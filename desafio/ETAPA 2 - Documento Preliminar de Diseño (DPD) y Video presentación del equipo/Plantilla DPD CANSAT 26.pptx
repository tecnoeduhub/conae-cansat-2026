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6" r:id="rId3"/>
    <p:sldId id="317" r:id="rId4"/>
    <p:sldId id="316" r:id="rId5"/>
    <p:sldId id="315" r:id="rId6"/>
    <p:sldId id="314" r:id="rId7"/>
    <p:sldId id="313" r:id="rId8"/>
    <p:sldId id="318" r:id="rId9"/>
    <p:sldId id="319" r:id="rId10"/>
    <p:sldId id="320" r:id="rId11"/>
    <p:sldId id="321" r:id="rId12"/>
    <p:sldId id="323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C4F"/>
    <a:srgbClr val="1260FF"/>
    <a:srgbClr val="17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39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090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26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620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69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0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08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57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271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86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24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D8B90-4CCE-46FF-B06B-D317E60C4DE8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30AE2-6FC8-48D1-A0A6-D86B8763F9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47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82073" y="651414"/>
            <a:ext cx="908133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Montserrat" pitchFamily="2" charset="0"/>
                <a:ea typeface="Roboto Flex" panose="02000000000000000000" pitchFamily="2" charset="0"/>
              </a:rPr>
              <a:t>DOCUMENTO </a:t>
            </a:r>
          </a:p>
          <a:p>
            <a:r>
              <a:rPr lang="es-ES" sz="5400" b="1" dirty="0">
                <a:solidFill>
                  <a:schemeClr val="bg1"/>
                </a:solidFill>
                <a:latin typeface="Montserrat" pitchFamily="2" charset="0"/>
                <a:ea typeface="Roboto Flex" panose="02000000000000000000" pitchFamily="2" charset="0"/>
              </a:rPr>
              <a:t>PRELIMINAR DE DISEÑO</a:t>
            </a:r>
          </a:p>
          <a:p>
            <a:r>
              <a:rPr lang="es-ES" sz="3600" b="1" dirty="0">
                <a:solidFill>
                  <a:schemeClr val="bg1"/>
                </a:solidFill>
                <a:latin typeface="Montserrat" pitchFamily="2" charset="0"/>
                <a:ea typeface="Roboto Flex" panose="02000000000000000000" pitchFamily="2" charset="0"/>
              </a:rPr>
              <a:t>PARA LA REVISIÓN PRELIMINAR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21355" y="4083649"/>
            <a:ext cx="6497292" cy="1238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Montserrat" pitchFamily="2" charset="0"/>
                <a:ea typeface="Roboto Flex" panose="02000000000000000000" pitchFamily="2" charset="0"/>
              </a:rPr>
              <a:t>Número o Código de Equipo</a:t>
            </a:r>
          </a:p>
          <a:p>
            <a:endParaRPr lang="es-ES" sz="1600" dirty="0">
              <a:solidFill>
                <a:schemeClr val="bg1"/>
              </a:solidFill>
              <a:latin typeface="Montserrat" pitchFamily="2" charset="0"/>
              <a:ea typeface="Roboto Flex" panose="02000000000000000000" pitchFamily="2" charset="0"/>
            </a:endParaRPr>
          </a:p>
          <a:p>
            <a:r>
              <a:rPr lang="es-ES" sz="1600" dirty="0">
                <a:solidFill>
                  <a:schemeClr val="bg1"/>
                </a:solidFill>
                <a:latin typeface="Montserrat" pitchFamily="2" charset="0"/>
                <a:ea typeface="Roboto Flex" panose="02000000000000000000" pitchFamily="2" charset="0"/>
              </a:rPr>
              <a:t>Nombre del Equipo:</a:t>
            </a:r>
          </a:p>
          <a:p>
            <a:endParaRPr lang="es-ES" sz="1600" dirty="0">
              <a:solidFill>
                <a:schemeClr val="bg1"/>
              </a:solidFill>
              <a:latin typeface="Montserrat" pitchFamily="2" charset="0"/>
              <a:ea typeface="Roboto Flex" panose="02000000000000000000" pitchFamily="2" charset="0"/>
            </a:endParaRPr>
          </a:p>
          <a:p>
            <a:endParaRPr lang="es-ES" sz="1050" dirty="0">
              <a:solidFill>
                <a:schemeClr val="bg1"/>
              </a:solidFill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63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/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DATOS (2) (OBLIGATORIO)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368560" y="1110969"/>
            <a:ext cx="6468075" cy="2964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CODIGO CONAE (NRO):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NOMBRE DEL EQUIPO: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Colegio / Institución: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Miembros del equipo: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Tutor responsable:</a:t>
            </a:r>
          </a:p>
        </p:txBody>
      </p:sp>
    </p:spTree>
    <p:extLst>
      <p:ext uri="{BB962C8B-B14F-4D97-AF65-F5344CB8AC3E}">
        <p14:creationId xmlns:p14="http://schemas.microsoft.com/office/powerpoint/2010/main" val="414181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E2E29-BBDB-E653-1F88-F0CE8470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03C1591-0FE3-872D-ABFC-A27B2B369E8A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NOMBRE DE LA MISIÓN (6)</a:t>
            </a:r>
            <a:endParaRPr lang="es-ES" sz="2400" b="1" dirty="0">
              <a:solidFill>
                <a:srgbClr val="242C4F"/>
              </a:solidFill>
              <a:latin typeface="Montserrat" pitchFamily="2" charset="0"/>
              <a:ea typeface="Roboto Flex" panose="020000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0DD58D2-0053-5498-E855-01D633F7D02B}"/>
              </a:ext>
            </a:extLst>
          </p:cNvPr>
          <p:cNvSpPr/>
          <p:nvPr/>
        </p:nvSpPr>
        <p:spPr>
          <a:xfrm>
            <a:off x="368560" y="1110969"/>
            <a:ext cx="10441680" cy="2641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Parche</a:t>
            </a:r>
          </a:p>
          <a:p>
            <a:pPr>
              <a:lnSpc>
                <a:spcPct val="150000"/>
              </a:lnSpc>
            </a:pPr>
            <a:endParaRPr lang="es-AR" sz="1400" b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(Opcional: parche de grupo y parche de misión)</a:t>
            </a:r>
            <a:endParaRPr lang="es-AR" sz="1400" b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s-AR" sz="1400" b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Organización del equipo: roles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Aquí deberán colocar un organigrama o cuadro con todos los roles de los integrantes del equipo. 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02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4CD28-3CE8-B7A9-A28D-322EBD1C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BDB1F6F-691B-7E1F-0A35-FC0F194244CC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OBJETIVOS (6)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829D6E2-E433-C12E-928E-1E011B59698B}"/>
              </a:ext>
            </a:extLst>
          </p:cNvPr>
          <p:cNvSpPr/>
          <p:nvPr/>
        </p:nvSpPr>
        <p:spPr>
          <a:xfrm>
            <a:off x="368561" y="1110969"/>
            <a:ext cx="11679060" cy="2641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Misión primaria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¿Se entiende? Explicarla. ¿De pueden ampliar las mediciones? Justificar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Misión secundaria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La misión secundaria debe estar definida aquí. ¿Cuál es el objetivo (científico o tecnológico) detrás de la obtención de la imagen? Los detalles se irán desarrollando a lo largo de este documento.</a:t>
            </a:r>
          </a:p>
        </p:txBody>
      </p:sp>
    </p:spTree>
    <p:extLst>
      <p:ext uri="{BB962C8B-B14F-4D97-AF65-F5344CB8AC3E}">
        <p14:creationId xmlns:p14="http://schemas.microsoft.com/office/powerpoint/2010/main" val="76328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9A3A5-DFA9-06B6-9582-A805A7E2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4751F5F-1607-F6F5-E095-F86A87E74352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DISEÑO PRELIMINAR (25)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2E69DB-4B1B-4446-0C59-09DD67CA74D2}"/>
              </a:ext>
            </a:extLst>
          </p:cNvPr>
          <p:cNvSpPr/>
          <p:nvPr/>
        </p:nvSpPr>
        <p:spPr>
          <a:xfrm>
            <a:off x="368560" y="1110969"/>
            <a:ext cx="11261965" cy="3287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 err="1">
                <a:latin typeface="Montserrat" pitchFamily="2" charset="0"/>
                <a:ea typeface="Roboto Flex" panose="02000000000000000000" pitchFamily="2" charset="0"/>
              </a:rPr>
              <a:t>Layout</a:t>
            </a: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 físico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Diagrama o dibujo de la propuesta, realizada en algún software específico o escaneado desde un diagrama hecho a mano.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Como funciona: Operaciones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¿Cómo espero que se comporte la carga útil para cumplir la misión primaria y secundaria?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¿Cuál es la secuencia de operaciones (como funciona)?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94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9D2DC-6165-59BF-E126-9CA4B0B2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EE2A4A0C-172D-49D1-B8C2-43357345785C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SUBSISTEMAS (12)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8EB4264-9396-CA1A-9C76-DAEE359CF2D0}"/>
              </a:ext>
            </a:extLst>
          </p:cNvPr>
          <p:cNvSpPr/>
          <p:nvPr/>
        </p:nvSpPr>
        <p:spPr>
          <a:xfrm>
            <a:off x="368560" y="1110969"/>
            <a:ext cx="11229881" cy="3287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COMO entienden los subsistemas. Se pueden realizar gráficos, cuadros para evidenciar su interacción.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Estructura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Electrónica: sensores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Electrónica: potencia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Electrónica: telemetría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Electrónica: cámara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Electrónica: otros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Sistema de descenso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Otros (mecánicos, control de estabilidad, térmicos, etc.)</a:t>
            </a:r>
          </a:p>
          <a:p>
            <a:pPr algn="ctr">
              <a:lnSpc>
                <a:spcPct val="150000"/>
              </a:lnSpc>
            </a:pPr>
            <a:endParaRPr lang="es-ES" sz="1400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0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23749-6BF0-3C79-3302-ECF9AFF2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B925AF6-ED8E-8BFF-2099-7FFC6902C2CA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PRESUPUESTO DE MASAS (4)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771806D-2648-EC4D-F46E-2382152CAC3D}"/>
              </a:ext>
            </a:extLst>
          </p:cNvPr>
          <p:cNvSpPr/>
          <p:nvPr/>
        </p:nvSpPr>
        <p:spPr>
          <a:xfrm>
            <a:off x="368560" y="1110969"/>
            <a:ext cx="10462000" cy="702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Cuadro donde se detallan todos los componentes y su peso</a:t>
            </a: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. Realizar estimaciones en el caso de desconocer los pesos. </a:t>
            </a:r>
            <a:endParaRPr lang="es-ES" sz="1400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3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9D453-62E8-6EF2-9D53-513AB42C2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08DF5F6-D2A2-65CF-F5AA-3DCA100EF84B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INTEGRACIÓN Y PRUEBAS (12)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163C14F-09CA-7A4C-B3E2-8C1FA7E522B8}"/>
              </a:ext>
            </a:extLst>
          </p:cNvPr>
          <p:cNvSpPr/>
          <p:nvPr/>
        </p:nvSpPr>
        <p:spPr>
          <a:xfrm>
            <a:off x="368560" y="1110969"/>
            <a:ext cx="11454879" cy="5226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Pruebas preliminares de los componentes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¿Cómo se comprueba el funcionamiento de la carga útil? Propuestas para </a:t>
            </a:r>
            <a:r>
              <a:rPr lang="es-AR" sz="1400" i="1" dirty="0" err="1">
                <a:latin typeface="Montserrat" pitchFamily="2" charset="0"/>
                <a:ea typeface="Roboto Flex" panose="02000000000000000000" pitchFamily="2" charset="0"/>
              </a:rPr>
              <a:t>tests</a:t>
            </a: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 antes de la integración.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Secuencia de integración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¿Cómo se arma el CANSAT? Informar los pasos previstos para el armado.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Pruebas de integridad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Una vez armado ¿De que forma se comprobará si funcionará todo adecuadamente?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Plan de validación (medidas, peso, integridad, </a:t>
            </a:r>
            <a:r>
              <a:rPr lang="es-AR" sz="1400" b="1" dirty="0" err="1">
                <a:latin typeface="Montserrat" pitchFamily="2" charset="0"/>
                <a:ea typeface="Roboto Flex" panose="02000000000000000000" pitchFamily="2" charset="0"/>
              </a:rPr>
              <a:t>tests</a:t>
            </a: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 ambientales)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¿</a:t>
            </a: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Cómo se realizaran verificaciones de medidas? ¿Se </a:t>
            </a:r>
            <a:r>
              <a:rPr lang="es-AR" sz="1400" i="1" dirty="0" err="1">
                <a:latin typeface="Montserrat" pitchFamily="2" charset="0"/>
                <a:ea typeface="Roboto Flex" panose="02000000000000000000" pitchFamily="2" charset="0"/>
              </a:rPr>
              <a:t>preveen</a:t>
            </a: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 pruebas adicionales? Detallar como podrían ser. </a:t>
            </a: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TEST DE CAÍDA, DE VIBRACIONES Y DE VACIO TÉRMICO.</a:t>
            </a:r>
          </a:p>
        </p:txBody>
      </p:sp>
    </p:spTree>
    <p:extLst>
      <p:ext uri="{BB962C8B-B14F-4D97-AF65-F5344CB8AC3E}">
        <p14:creationId xmlns:p14="http://schemas.microsoft.com/office/powerpoint/2010/main" val="410030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657E3-6ED7-25BF-2581-CEB0F00D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DDA403C-010B-2B1F-4A7B-703FC7FCEDC2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OPERACIÓN DE LA MISIÓN (6)</a:t>
            </a:r>
            <a:endParaRPr lang="es-ES" sz="2400" b="1" dirty="0">
              <a:solidFill>
                <a:srgbClr val="242C4F"/>
              </a:solidFill>
              <a:latin typeface="Montserrat" pitchFamily="2" charset="0"/>
              <a:ea typeface="Roboto Flex" panose="020000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11EE35-3AED-1DA1-9E79-727CBC3788C9}"/>
              </a:ext>
            </a:extLst>
          </p:cNvPr>
          <p:cNvSpPr/>
          <p:nvPr/>
        </p:nvSpPr>
        <p:spPr>
          <a:xfrm>
            <a:off x="368560" y="1110969"/>
            <a:ext cx="11823439" cy="2964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Secuencia de eventos prevista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¿Cuáles serían los pasos para operar la misión? Desde la integración al cohete hasta la recepción de los datos y otras operaciones que permitan cumplir la misión. 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Roles y responsabilidades en la operación de la misión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Cuadro u organigrama de roles y responsabilidades para la campaña de lanzamientos.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40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22161-156C-19DD-4754-ED7AE3E3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59945F2-B48C-B32A-3087-606116CE20D5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PRESUPUESTO Y CAPACIDADES (6)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C8539D-4C3D-C706-1695-40DDDBA1111F}"/>
              </a:ext>
            </a:extLst>
          </p:cNvPr>
          <p:cNvSpPr/>
          <p:nvPr/>
        </p:nvSpPr>
        <p:spPr>
          <a:xfrm>
            <a:off x="368560" y="1110969"/>
            <a:ext cx="9433165" cy="2964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PRESUPUESTO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En forma de cuadro, costos de los materiales, costos de construcción y otros costos.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CAPACIDADES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¿Puede realizarse la construcción en las instalaciones y con las herramientas con las que se dispone?  Detalle de las capacidades personales, materiales y edilicias para llevar adelante la misión.</a:t>
            </a:r>
          </a:p>
          <a:p>
            <a:pPr>
              <a:lnSpc>
                <a:spcPct val="150000"/>
              </a:lnSpc>
            </a:pPr>
            <a:endParaRPr lang="es-ES" sz="1400" i="1" dirty="0">
              <a:latin typeface="Montserrat" pitchFamily="2" charset="0"/>
              <a:ea typeface="Roboto Flex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8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4759F-9AAA-1CAA-8C84-9CF4CC63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EC2F184-C754-B226-FFF6-BCD1AC0B5A2F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AGENDA (6)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444B462-8933-8E63-FAF3-9257E6FFCC10}"/>
              </a:ext>
            </a:extLst>
          </p:cNvPr>
          <p:cNvSpPr/>
          <p:nvPr/>
        </p:nvSpPr>
        <p:spPr>
          <a:xfrm>
            <a:off x="368561" y="1110969"/>
            <a:ext cx="10989250" cy="3610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CRONOGRAMA</a:t>
            </a:r>
          </a:p>
          <a:p>
            <a:pPr>
              <a:lnSpc>
                <a:spcPct val="150000"/>
              </a:lnSpc>
            </a:pPr>
            <a:endParaRPr lang="es-AR" sz="1400" i="1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Los hitos a cumplir en forma de tabla o diagrama Gantt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PLAN DE DOCUMENTACIÓN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¿Cómo se podría registrar todo el proceso? Filmaciones, fotos, documentos, etc</a:t>
            </a:r>
            <a:r>
              <a:rPr lang="es-AR" sz="1400" dirty="0">
                <a:latin typeface="Montserrat" pitchFamily="2" charset="0"/>
                <a:ea typeface="Roboto Flex" panose="020000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b="1" dirty="0">
                <a:latin typeface="Montserrat" pitchFamily="2" charset="0"/>
                <a:ea typeface="Roboto Flex" panose="02000000000000000000" pitchFamily="2" charset="0"/>
              </a:rPr>
              <a:t>PLAN DE PUBLICACIÓN Y DIFUSIÓN DE RESULTADOS </a:t>
            </a:r>
          </a:p>
          <a:p>
            <a:pPr>
              <a:lnSpc>
                <a:spcPct val="150000"/>
              </a:lnSpc>
            </a:pPr>
            <a:endParaRPr lang="es-AR" sz="1400" dirty="0">
              <a:latin typeface="Montserrat" pitchFamily="2" charset="0"/>
              <a:ea typeface="Roboto Flex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AR" sz="1400" i="1" dirty="0">
                <a:latin typeface="Montserrat" pitchFamily="2" charset="0"/>
                <a:ea typeface="Roboto Flex" panose="02000000000000000000" pitchFamily="2" charset="0"/>
              </a:rPr>
              <a:t>Prensa, páginas web, redes sociales, etc.</a:t>
            </a:r>
          </a:p>
        </p:txBody>
      </p:sp>
    </p:spTree>
    <p:extLst>
      <p:ext uri="{BB962C8B-B14F-4D97-AF65-F5344CB8AC3E}">
        <p14:creationId xmlns:p14="http://schemas.microsoft.com/office/powerpoint/2010/main" val="250660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B2DEF-0A94-218A-7EE2-4AF1C273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C6876056-7FD6-9ACC-5181-BBCE481A1259}"/>
              </a:ext>
            </a:extLst>
          </p:cNvPr>
          <p:cNvSpPr/>
          <p:nvPr/>
        </p:nvSpPr>
        <p:spPr>
          <a:xfrm>
            <a:off x="368560" y="205944"/>
            <a:ext cx="114548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242C4F"/>
                </a:solidFill>
                <a:latin typeface="Montserrat" pitchFamily="2" charset="0"/>
                <a:ea typeface="Roboto Flex" panose="02000000000000000000" pitchFamily="2" charset="0"/>
              </a:rPr>
              <a:t>VIDEO (15)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5BF783-251B-6118-D169-DB405FF73A33}"/>
              </a:ext>
            </a:extLst>
          </p:cNvPr>
          <p:cNvSpPr/>
          <p:nvPr/>
        </p:nvSpPr>
        <p:spPr>
          <a:xfrm>
            <a:off x="368560" y="1110969"/>
            <a:ext cx="9639040" cy="379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>
                <a:latin typeface="Montserrat" pitchFamily="2" charset="0"/>
                <a:ea typeface="Roboto Flex" panose="02000000000000000000" pitchFamily="2" charset="0"/>
              </a:rPr>
              <a:t>Link a video. Verificar su acceso una vez puesto en este documento</a:t>
            </a:r>
          </a:p>
        </p:txBody>
      </p:sp>
    </p:spTree>
    <p:extLst>
      <p:ext uri="{BB962C8B-B14F-4D97-AF65-F5344CB8AC3E}">
        <p14:creationId xmlns:p14="http://schemas.microsoft.com/office/powerpoint/2010/main" val="1999278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260F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a1" id="{9B8BA6DC-1C8F-44A7-A302-F23DBE8005F8}" vid="{1DC83AF1-63AF-4327-AA11-BCE40A2FBA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1277</TotalTime>
  <Words>582</Words>
  <Application>Microsoft Office PowerPoint</Application>
  <PresentationFormat>Panorámica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Juanjo</dc:creator>
  <cp:lastModifiedBy>Pablo Gonzalez</cp:lastModifiedBy>
  <cp:revision>73</cp:revision>
  <dcterms:created xsi:type="dcterms:W3CDTF">2023-07-10T14:38:49Z</dcterms:created>
  <dcterms:modified xsi:type="dcterms:W3CDTF">2026-06-30T13:52:18Z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22125d5-a8e0-4bfc-b60f-37738ea82271_Enabled">
    <vt:lpwstr>true</vt:lpwstr>
  </property>
  <property fmtid="{D5CDD505-2E9C-101B-9397-08002B2CF9AE}" pid="3" name="MSIP_Label_522125d5-a8e0-4bfc-b60f-37738ea82271_SetDate">
    <vt:lpwstr>2026-02-24T15:49:12Z</vt:lpwstr>
  </property>
  <property fmtid="{D5CDD505-2E9C-101B-9397-08002B2CF9AE}" pid="4" name="MSIP_Label_522125d5-a8e0-4bfc-b60f-37738ea82271_Method">
    <vt:lpwstr>Privileged</vt:lpwstr>
  </property>
  <property fmtid="{D5CDD505-2E9C-101B-9397-08002B2CF9AE}" pid="5" name="MSIP_Label_522125d5-a8e0-4bfc-b60f-37738ea82271_Name">
    <vt:lpwstr>Publico</vt:lpwstr>
  </property>
  <property fmtid="{D5CDD505-2E9C-101B-9397-08002B2CF9AE}" pid="6" name="MSIP_Label_522125d5-a8e0-4bfc-b60f-37738ea82271_SiteId">
    <vt:lpwstr>7541a422-19e3-429d-88ea-468e7ae8dd96</vt:lpwstr>
  </property>
  <property fmtid="{D5CDD505-2E9C-101B-9397-08002B2CF9AE}" pid="7" name="MSIP_Label_522125d5-a8e0-4bfc-b60f-37738ea82271_ActionId">
    <vt:lpwstr>287d6777-d425-42d4-8d09-e8ba925c9046</vt:lpwstr>
  </property>
  <property fmtid="{D5CDD505-2E9C-101B-9397-08002B2CF9AE}" pid="8" name="MSIP_Label_522125d5-a8e0-4bfc-b60f-37738ea82271_ContentBits">
    <vt:lpwstr>0</vt:lpwstr>
  </property>
  <property fmtid="{D5CDD505-2E9C-101B-9397-08002B2CF9AE}" pid="9" name="MSIP_Label_522125d5-a8e0-4bfc-b60f-37738ea82271_Tag">
    <vt:lpwstr>10, 0, 1, 1</vt:lpwstr>
  </property>
</Properties>
</file>